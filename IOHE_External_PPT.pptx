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68" r:id="rId15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54" y="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8786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81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797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04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867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5135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1185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37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Name of the faculty [Group: G00] [Sem:2nd]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349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RAPZIS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i="1" spc="-1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Road Accident Prone Zone Identification Syste</a:t>
            </a:r>
            <a:r>
              <a:rPr lang="en-US" sz="2400" i="1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endParaRPr lang="en-US" sz="24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/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Mehak Garg</a:t>
            </a:r>
            <a:endParaRPr lang="en-US" sz="2000" spc="-1" dirty="0" smtClean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2210990572</a:t>
            </a:r>
            <a:endParaRPr lang="en-US" sz="2000" spc="-1" dirty="0" smtClean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Monika Aggarwal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0" y="528401"/>
            <a:ext cx="8838720" cy="5203643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RAPZIS (Road Accident Prone Zone Identification System) is a system designed to analyze and predict road accident risks.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It uses machine learning techniques to identify accident prone conditions based on factors like </a:t>
            </a:r>
            <a:r>
              <a:rPr lang="en-US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overspeeding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weather and traffic violations.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Helps in predicting accident risk levels (Low/High) using trained model.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Identifies high risk zones using clustering techniques like K-Means and DBSCAN. 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Provides a user-friendly web interface for submitting accident reports and viewing summaries.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Displays accident trends and insights using interactive charts and dashboards. 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Built using MERN stack for scalable and efficient web</a:t>
            </a:r>
          </a:p>
          <a:p>
            <a:pPr marL="139700" lvl="0">
              <a:lnSpc>
                <a:spcPct val="150000"/>
              </a:lnSpc>
              <a:buClr>
                <a:srgbClr val="000000"/>
              </a:buClr>
              <a:buSzPts val="1400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application development.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AutoShape 4" descr="Road Traffic Accident Vector Art, Icons ..."/>
          <p:cNvSpPr>
            <a:spLocks noChangeAspect="1" noChangeArrowheads="1"/>
          </p:cNvSpPr>
          <p:nvPr/>
        </p:nvSpPr>
        <p:spPr bwMode="auto">
          <a:xfrm>
            <a:off x="3826823" y="4441185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381" y="5527125"/>
            <a:ext cx="2035473" cy="10050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0" y="594176"/>
            <a:ext cx="8838720" cy="469271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 smtClean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Develop a predictive model to estimate accident risk based on input parameters.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Implement classification techniques to categorize risk levels accurately.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Apply clustering algorithms to detect and group accident risk zones.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 system for efficient collection and storage of accident data.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scalable web platform for seamless user interaction.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dynamic data visualization through charts and dashboard. 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 data preprocessing and feature engineering to improve model performance. 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model accuracy using techniques like Random Forest.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 modular integration of machine learning </a:t>
            </a:r>
          </a:p>
          <a:p>
            <a:pPr marL="139700" lvl="0">
              <a:lnSpc>
                <a:spcPct val="150000"/>
              </a:lnSpc>
              <a:buClr>
                <a:srgbClr val="000000"/>
              </a:buClr>
              <a:buSzPts val="1400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with web technologies. 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AutoShape 4" descr="Road Traffic Accident Vector Art, Icons ..."/>
          <p:cNvSpPr>
            <a:spLocks noChangeAspect="1" noChangeArrowheads="1"/>
          </p:cNvSpPr>
          <p:nvPr/>
        </p:nvSpPr>
        <p:spPr bwMode="auto">
          <a:xfrm>
            <a:off x="3826823" y="4441185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0" name="Picture 2" descr="Road Accident Stock Illustrations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4893" y="11192845"/>
            <a:ext cx="1425605" cy="119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Car Clipart, Cartoon Clipart, Car PNG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281" y="5286895"/>
            <a:ext cx="2607614" cy="138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7803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0" y="594176"/>
            <a:ext cx="8838720" cy="469271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 smtClean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RAPZIS system follows a multi-layer architecture integrating frontend, backend, database and machine learning components</a:t>
            </a: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(React.js): Handles user interface and displays analytics using charts.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(Node.js &amp; Express.js): Manages API requests and connects frontend</a:t>
            </a:r>
          </a:p>
          <a:p>
            <a:pPr marL="139700">
              <a:lnSpc>
                <a:spcPct val="150000"/>
              </a:lnSpc>
              <a:buClr>
                <a:srgbClr val="000000"/>
              </a:buClr>
              <a:buSzPts val="1400"/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database and ML services</a:t>
            </a: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(MongoDB): Store user details and accident reports efficiently.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Module (Python + Flask): Predicts accident risk using trained models.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ensures scalability, real time</a:t>
            </a:r>
          </a:p>
          <a:p>
            <a:pPr marL="139700" lvl="0">
              <a:lnSpc>
                <a:spcPct val="150000"/>
              </a:lnSpc>
              <a:buClr>
                <a:srgbClr val="000000"/>
              </a:buClr>
              <a:buSzPts val="1400"/>
            </a:pPr>
            <a: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processing and seamless integration of all </a:t>
            </a:r>
          </a:p>
          <a:p>
            <a:pPr marL="139700" lvl="0">
              <a:lnSpc>
                <a:spcPct val="150000"/>
              </a:lnSpc>
              <a:buClr>
                <a:srgbClr val="000000"/>
              </a:buClr>
              <a:buSzPts val="1400"/>
            </a:pPr>
            <a: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components.</a:t>
            </a: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AutoShape 4" descr="Road Traffic Accident Vector Art, Icons ..."/>
          <p:cNvSpPr>
            <a:spLocks noChangeAspect="1" noChangeArrowheads="1"/>
          </p:cNvSpPr>
          <p:nvPr/>
        </p:nvSpPr>
        <p:spPr bwMode="auto">
          <a:xfrm>
            <a:off x="3826823" y="4441185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0" name="Picture 2" descr="Road Accident Stock Illustrations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4893" y="11192845"/>
            <a:ext cx="1425605" cy="119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MERN Stack Explained: A Guide to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5844" y="4441184"/>
            <a:ext cx="3260596" cy="1915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7992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0" y="418860"/>
            <a:ext cx="8838720" cy="514744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 smtClean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Collection: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Gathered accident dataset with features like </a:t>
            </a:r>
            <a:r>
              <a:rPr lang="en-US" sz="20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overspeeding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lane jumping and weather conditions.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b="1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 </a:t>
            </a:r>
            <a:r>
              <a:rPr lang="en-US" sz="200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missing values and irrelevant data to ensure consistency. 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b="1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Transformation: </a:t>
            </a: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Converted categorical data into numerical format using encoding. </a:t>
            </a:r>
            <a:endParaRPr lang="en-US" sz="2000" b="1" strike="noStrike" spc="-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b="1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 </a:t>
            </a: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Selected important features and defined risk levels (Low/High) for classification. 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b="1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Techniques: </a:t>
            </a: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Applied K-Means and DBSCAN to identify accident prone zones.</a:t>
            </a:r>
          </a:p>
          <a:p>
            <a:pPr marL="457200" indent="-317500">
              <a:lnSpc>
                <a:spcPct val="150000"/>
              </a:lnSpc>
              <a:buClr>
                <a:srgbClr val="000000"/>
              </a:buClr>
              <a:buSzPts val="1400"/>
              <a:buFontTx/>
              <a:buChar char="●"/>
            </a:pP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Development: 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Trained ML models – Logistic Regression, Decision Tree, Random Forest. </a:t>
            </a:r>
            <a:r>
              <a:rPr lang="en-US" sz="20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endParaRPr lang="en-US" sz="2000" spc="-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AutoShape 4" descr="Road Traffic Accident Vector Art, Icons ..."/>
          <p:cNvSpPr>
            <a:spLocks noChangeAspect="1" noChangeArrowheads="1"/>
          </p:cNvSpPr>
          <p:nvPr/>
        </p:nvSpPr>
        <p:spPr bwMode="auto">
          <a:xfrm>
            <a:off x="3826823" y="4441185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0" name="Picture 2" descr="Road Accident Stock Illustrations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4893" y="11192845"/>
            <a:ext cx="1425605" cy="119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72770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0" y="1120353"/>
            <a:ext cx="8838720" cy="469271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 smtClean="0">
              <a:solidFill>
                <a:srgbClr val="000000"/>
              </a:solidFill>
              <a:latin typeface="Calibri"/>
            </a:endParaRP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 Evaluation: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Compares models using accuracy, precision, recall and F1-score. 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b="1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Deployment: </a:t>
            </a:r>
            <a:r>
              <a:rPr lang="en-US" sz="200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trained model using Flask API for real time prediction.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b="1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Integration: </a:t>
            </a: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Connected ML model with backend for real time predictions.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b="1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Integration: </a:t>
            </a: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frontend, backend, database and ML components. 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b="1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Visualization: </a:t>
            </a: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Displayed results using charts and dashboards.</a:t>
            </a:r>
          </a:p>
          <a:p>
            <a:pPr marL="457200" lvl="0" indent="-317500">
              <a:lnSpc>
                <a:spcPct val="150000"/>
              </a:lnSpc>
              <a:buClr>
                <a:srgbClr val="000000"/>
              </a:buClr>
              <a:buSzPts val="1400"/>
              <a:buChar char="●"/>
            </a:pPr>
            <a:r>
              <a:rPr lang="en-US" sz="2000" b="1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 Generation: </a:t>
            </a: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Provided safety recommendations based on predictions. 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AutoShape 4" descr="Road Traffic Accident Vector Art, Icons ..."/>
          <p:cNvSpPr>
            <a:spLocks noChangeAspect="1" noChangeArrowheads="1"/>
          </p:cNvSpPr>
          <p:nvPr/>
        </p:nvSpPr>
        <p:spPr bwMode="auto">
          <a:xfrm>
            <a:off x="3826823" y="4441185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0" name="Picture 2" descr="Road Accident Stock Illustrations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4893" y="11192845"/>
            <a:ext cx="1425605" cy="119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519" y="5182756"/>
            <a:ext cx="2257338" cy="140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077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53352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0" y="418860"/>
            <a:ext cx="8838720" cy="469271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 smtClean="0">
              <a:solidFill>
                <a:srgbClr val="000000"/>
              </a:solidFill>
              <a:latin typeface="Calibri"/>
            </a:endParaRPr>
          </a:p>
          <a:p>
            <a:pPr marL="596900" lvl="0" indent="-457200">
              <a:lnSpc>
                <a:spcPct val="150000"/>
              </a:lnSpc>
              <a:buClr>
                <a:srgbClr val="000000"/>
              </a:buClr>
              <a:buSzPts val="1400"/>
              <a:buAutoNum type="arabicPeriod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Frontend</a:t>
            </a:r>
          </a:p>
          <a:p>
            <a:pPr marL="939800" lvl="1" indent="-342900">
              <a:lnSpc>
                <a:spcPct val="150000"/>
              </a:lnSpc>
              <a:buClr>
                <a:srgbClr val="000000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React.js: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Used to build interactive and responsive user interface.</a:t>
            </a:r>
          </a:p>
          <a:p>
            <a:pPr marL="939800" lvl="1" indent="-342900">
              <a:lnSpc>
                <a:spcPct val="150000"/>
              </a:lnSpc>
              <a:buClr>
                <a:srgbClr val="000000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Recharts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Used for data visualization (graphs, charts).</a:t>
            </a:r>
          </a:p>
          <a:p>
            <a:pPr marL="596900" lvl="1">
              <a:lnSpc>
                <a:spcPct val="150000"/>
              </a:lnSpc>
              <a:buClr>
                <a:srgbClr val="000000"/>
              </a:buClr>
              <a:buSzPct val="126000"/>
            </a:pPr>
            <a:endParaRPr lang="en-US" sz="20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50000"/>
              </a:lnSpc>
              <a:buClr>
                <a:srgbClr val="000000"/>
              </a:buClr>
              <a:buSzPts val="1400"/>
              <a:buAutoNum type="arabicPeriod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Backend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39800" lvl="1" indent="-342900">
              <a:lnSpc>
                <a:spcPct val="150000"/>
              </a:lnSpc>
              <a:buClr>
                <a:srgbClr val="000000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Node.js</a:t>
            </a: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Handles server side logic and API processing.</a:t>
            </a:r>
          </a:p>
          <a:p>
            <a:pPr marL="939800" lvl="1" indent="-342900">
              <a:lnSpc>
                <a:spcPct val="150000"/>
              </a:lnSpc>
              <a:buClr>
                <a:srgbClr val="000000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Express.js: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Framework for building REST APIs and routing. </a:t>
            </a:r>
          </a:p>
          <a:p>
            <a:pPr marL="596900" lvl="1">
              <a:lnSpc>
                <a:spcPct val="150000"/>
              </a:lnSpc>
              <a:buClr>
                <a:srgbClr val="000000"/>
              </a:buClr>
              <a:buSzPct val="126000"/>
            </a:pPr>
            <a:endParaRPr lang="en-US" sz="20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96900" lvl="0" indent="-457200">
              <a:lnSpc>
                <a:spcPct val="150000"/>
              </a:lnSpc>
              <a:buClr>
                <a:srgbClr val="000000"/>
              </a:buClr>
              <a:buSzPts val="1400"/>
              <a:buAutoNum type="arabicPeriod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39800" lvl="1" indent="-342900">
              <a:lnSpc>
                <a:spcPct val="150000"/>
              </a:lnSpc>
              <a:buClr>
                <a:srgbClr val="000000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MongoDB: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Stores user data and accident reports in a </a:t>
            </a:r>
          </a:p>
          <a:p>
            <a:pPr marL="596900" lvl="1">
              <a:lnSpc>
                <a:spcPct val="150000"/>
              </a:lnSpc>
              <a:buClr>
                <a:srgbClr val="000000"/>
              </a:buClr>
              <a:buSzPct val="126000"/>
            </a:pP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NoSQL format. 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AutoShape 4" descr="Road Traffic Accident Vector Art, Icons ..."/>
          <p:cNvSpPr>
            <a:spLocks noChangeAspect="1" noChangeArrowheads="1"/>
          </p:cNvSpPr>
          <p:nvPr/>
        </p:nvSpPr>
        <p:spPr bwMode="auto">
          <a:xfrm>
            <a:off x="3826823" y="4441185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0" name="Picture 2" descr="Road Accident Stock Illustrations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4893" y="11192845"/>
            <a:ext cx="1425605" cy="119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Best MERN Stack Development Company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3633" y="4232669"/>
            <a:ext cx="2195087" cy="1757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1704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49629" y="837720"/>
            <a:ext cx="8838720" cy="469271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 smtClean="0">
              <a:solidFill>
                <a:srgbClr val="000000"/>
              </a:solidFill>
              <a:latin typeface="Calibri"/>
            </a:endParaRPr>
          </a:p>
          <a:p>
            <a:pPr marL="139700" lvl="0">
              <a:lnSpc>
                <a:spcPct val="150000"/>
              </a:lnSpc>
              <a:buClr>
                <a:srgbClr val="000000"/>
              </a:buClr>
              <a:buSzPts val="1400"/>
            </a:pP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   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Machine Learning:</a:t>
            </a:r>
          </a:p>
          <a:p>
            <a:pPr marL="939800" lvl="1" indent="-342900">
              <a:lnSpc>
                <a:spcPct val="150000"/>
              </a:lnSpc>
              <a:buClr>
                <a:srgbClr val="000000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Python: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Core language for model development. </a:t>
            </a:r>
          </a:p>
          <a:p>
            <a:pPr marL="939800" lvl="1" indent="-342900">
              <a:lnSpc>
                <a:spcPct val="150000"/>
              </a:lnSpc>
              <a:buClr>
                <a:srgbClr val="000000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Scikit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-learn: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Used for training ML models (Random Forest, etc.) .</a:t>
            </a:r>
          </a:p>
          <a:p>
            <a:pPr marL="939800" lvl="1" indent="-342900">
              <a:lnSpc>
                <a:spcPct val="150000"/>
              </a:lnSpc>
              <a:buClr>
                <a:srgbClr val="000000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Pandas &amp; </a:t>
            </a:r>
            <a:r>
              <a:rPr lang="en-US" sz="20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NumPy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preprocessing and numerical operations. </a:t>
            </a:r>
          </a:p>
          <a:p>
            <a:pPr marL="596900" lvl="1">
              <a:lnSpc>
                <a:spcPct val="150000"/>
              </a:lnSpc>
              <a:buClr>
                <a:srgbClr val="000000"/>
              </a:buClr>
              <a:buSzPct val="126000"/>
            </a:pPr>
            <a:endParaRPr lang="en-US" sz="2000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9700" lvl="0">
              <a:lnSpc>
                <a:spcPct val="150000"/>
              </a:lnSpc>
              <a:buClr>
                <a:srgbClr val="000000"/>
              </a:buClr>
              <a:buSzPts val="1400"/>
            </a:pP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5.    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Integration &amp; Tools: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39800" lvl="1" indent="-342900">
              <a:lnSpc>
                <a:spcPct val="150000"/>
              </a:lnSpc>
              <a:buClr>
                <a:srgbClr val="000000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Flask: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Used to create API for ML model deployment. </a:t>
            </a:r>
          </a:p>
          <a:p>
            <a:pPr marL="939800" lvl="1" indent="-342900">
              <a:lnSpc>
                <a:spcPct val="150000"/>
              </a:lnSpc>
              <a:buClr>
                <a:srgbClr val="000000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Jupyter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Notebook: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Used for training and testing.</a:t>
            </a:r>
          </a:p>
          <a:p>
            <a:pPr marL="939800" lvl="1" indent="-342900">
              <a:lnSpc>
                <a:spcPct val="150000"/>
              </a:lnSpc>
              <a:buClr>
                <a:srgbClr val="000000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VS Code: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Development environment. 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AutoShape 4" descr="Road Traffic Accident Vector Art, Icons ..."/>
          <p:cNvSpPr>
            <a:spLocks noChangeAspect="1" noChangeArrowheads="1"/>
          </p:cNvSpPr>
          <p:nvPr/>
        </p:nvSpPr>
        <p:spPr bwMode="auto">
          <a:xfrm>
            <a:off x="3826823" y="4441185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0" name="Picture 2" descr="Road Accident Stock Illustrations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4893" y="11192845"/>
            <a:ext cx="1425605" cy="119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Methodology Images – Browse 132,000 ..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5597" y="4919609"/>
            <a:ext cx="2828925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5433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Performance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49629" y="837720"/>
            <a:ext cx="8838720" cy="469271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 smtClean="0">
              <a:solidFill>
                <a:srgbClr val="000000"/>
              </a:solidFill>
              <a:latin typeface="Calibri"/>
            </a:endParaRPr>
          </a:p>
          <a:p>
            <a:pPr marL="139700" lvl="0">
              <a:lnSpc>
                <a:spcPct val="150000"/>
              </a:lnSpc>
              <a:buClr>
                <a:srgbClr val="000000"/>
              </a:buClr>
              <a:buSzPts val="1400"/>
            </a:pPr>
            <a:r>
              <a:rPr lang="en-US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   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Model Performance Metrics:</a:t>
            </a:r>
          </a:p>
          <a:p>
            <a:pPr marL="939800" lvl="1" indent="-342900">
              <a:lnSpc>
                <a:spcPct val="150000"/>
              </a:lnSpc>
              <a:buClr>
                <a:srgbClr val="000000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Accuracy: ~ 81%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(Overall correctness of the model)</a:t>
            </a:r>
            <a:endParaRPr lang="en-US" sz="2000" b="1" dirty="0" smtClean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39800" lvl="1" indent="-342900">
              <a:lnSpc>
                <a:spcPct val="150000"/>
              </a:lnSpc>
              <a:buClr>
                <a:srgbClr val="000000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Precision: ~ 80%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(Correctly predicted high-risk cases)</a:t>
            </a:r>
          </a:p>
          <a:p>
            <a:pPr marL="939800" lvl="1" indent="-342900">
              <a:lnSpc>
                <a:spcPct val="150000"/>
              </a:lnSpc>
              <a:buClr>
                <a:srgbClr val="000000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Recall: ~ 79%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(Ability to detect actual accident risks)</a:t>
            </a:r>
          </a:p>
          <a:p>
            <a:pPr marL="939800" lvl="1" indent="-342900">
              <a:lnSpc>
                <a:spcPct val="150000"/>
              </a:lnSpc>
              <a:buClr>
                <a:srgbClr val="000000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F1-Score: ~ 78%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(Balance between precision and recall)</a:t>
            </a:r>
          </a:p>
          <a:p>
            <a:pPr marL="139700" lvl="0">
              <a:lnSpc>
                <a:spcPct val="150000"/>
              </a:lnSpc>
              <a:buClr>
                <a:srgbClr val="000000"/>
              </a:buClr>
              <a:buSzPts val="1400"/>
            </a:pPr>
            <a:r>
              <a:rPr lang="en-US" sz="16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2.    </a:t>
            </a: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Algorithm Comparison </a:t>
            </a:r>
          </a:p>
          <a:p>
            <a:pPr marL="939800" lvl="1" indent="-342900">
              <a:lnSpc>
                <a:spcPct val="150000"/>
              </a:lnSpc>
              <a:buClr>
                <a:srgbClr val="000000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Logistic Regression: ~ 68%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accuracy.</a:t>
            </a:r>
          </a:p>
          <a:p>
            <a:pPr marL="939800" lvl="1" indent="-342900">
              <a:lnSpc>
                <a:spcPct val="150000"/>
              </a:lnSpc>
              <a:buClr>
                <a:srgbClr val="000000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Decision Tree: ~ 75%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accuracy.</a:t>
            </a:r>
          </a:p>
          <a:p>
            <a:pPr marL="939800" lvl="1" indent="-342900">
              <a:lnSpc>
                <a:spcPct val="150000"/>
              </a:lnSpc>
              <a:buClr>
                <a:srgbClr val="000000"/>
              </a:buClr>
              <a:buSzPct val="126000"/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Random Forest: ~ 80% </a:t>
            </a:r>
            <a:r>
              <a:rPr lang="en-US" sz="20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accuracy. </a:t>
            </a:r>
            <a:endParaRPr lang="en-US" sz="1900" b="0" strike="noStrike" spc="-1" dirty="0" smtClean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AutoShape 4" descr="Road Traffic Accident Vector Art, Icons ..."/>
          <p:cNvSpPr>
            <a:spLocks noChangeAspect="1" noChangeArrowheads="1"/>
          </p:cNvSpPr>
          <p:nvPr/>
        </p:nvSpPr>
        <p:spPr bwMode="auto">
          <a:xfrm>
            <a:off x="3826823" y="4441185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0" name="Picture 2" descr="Road Accident Stock Illustrations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4893" y="11192845"/>
            <a:ext cx="1425605" cy="119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8678" y="4441185"/>
            <a:ext cx="2800504" cy="209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504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49629" y="11639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49629" y="1098740"/>
            <a:ext cx="8838720" cy="469271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RAPZIS successfully integrates machine learning with web technologies for accident prediction.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accurate risk classification and meaningful insights.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model ensures reliable and efficient performance.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Clustering techniques help identify accident prone zones effectively.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enhance understanding of accident trends.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supports data driven decision making for road safety. </a:t>
            </a:r>
          </a:p>
          <a:p>
            <a:pPr marL="342900" indent="-342900">
              <a:lnSpc>
                <a:spcPct val="150000"/>
              </a:lnSpc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2000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Overall, RAPZIS contributes towards reducing accident risks and improving awareness.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4" descr="Road Traffic Accident Vector Art, Icons ..."/>
          <p:cNvSpPr>
            <a:spLocks noChangeAspect="1" noChangeArrowheads="1"/>
          </p:cNvSpPr>
          <p:nvPr/>
        </p:nvSpPr>
        <p:spPr bwMode="auto">
          <a:xfrm>
            <a:off x="3826823" y="4441185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0" name="Picture 2" descr="Road Accident Stock Illustrations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4893" y="11192845"/>
            <a:ext cx="1425605" cy="1195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172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34885</TotalTime>
  <Words>907</Words>
  <Application>Microsoft Office PowerPoint</Application>
  <PresentationFormat>On-screen Show (4:3)</PresentationFormat>
  <Paragraphs>182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MS PGothic</vt:lpstr>
      <vt:lpstr>Arial</vt:lpstr>
      <vt:lpstr>Calibri</vt:lpstr>
      <vt:lpstr>DejaVu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Microsoft account</cp:lastModifiedBy>
  <cp:revision>2317</cp:revision>
  <dcterms:created xsi:type="dcterms:W3CDTF">2010-04-09T07:36:15Z</dcterms:created>
  <dcterms:modified xsi:type="dcterms:W3CDTF">2026-04-28T15:41:36Z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